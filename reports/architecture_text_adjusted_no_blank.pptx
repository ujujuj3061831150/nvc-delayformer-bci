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81529" cy="547176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981529" cy="5471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6617" y="109728"/>
            <a:ext cx="13320979" cy="5266944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" y="1667865"/>
            <a:ext cx="694944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7558" y="1667865"/>
            <a:ext cx="702259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998" y="3218688"/>
            <a:ext cx="76078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3353" y="3211372"/>
            <a:ext cx="358445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683" y="4798771"/>
            <a:ext cx="77541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0668" y="4762195"/>
            <a:ext cx="365760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5731" y="4118457"/>
            <a:ext cx="263347" cy="0"/>
          </a:xfrm>
          <a:prstGeom prst="line">
            <a:avLst/>
          </a:prstGeom>
          <a:ln w="1975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62272" y="1543507"/>
            <a:ext cx="16093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3206" y="1543507"/>
            <a:ext cx="0" cy="1228953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3206" y="2772460"/>
            <a:ext cx="31455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03750" y="3869740"/>
            <a:ext cx="226771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30521" y="2772460"/>
            <a:ext cx="0" cy="109728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0521" y="2772460"/>
            <a:ext cx="307239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3331" y="1543507"/>
            <a:ext cx="336499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17459" y="1901952"/>
            <a:ext cx="0" cy="241401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7305" y="3533241"/>
            <a:ext cx="234087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9606" y="2852928"/>
            <a:ext cx="234086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399264" y="2867558"/>
            <a:ext cx="270662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898880" y="2867558"/>
            <a:ext cx="563270" cy="0"/>
          </a:xfrm>
          <a:prstGeom prst="line">
            <a:avLst/>
          </a:prstGeom>
          <a:ln w="2414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3094" y="1521561"/>
            <a:ext cx="0" cy="431597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2355" y="2728569"/>
            <a:ext cx="0" cy="446227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76672" y="2772460"/>
            <a:ext cx="0" cy="409652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76672" y="3182112"/>
            <a:ext cx="1294790" cy="0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1462" y="2794406"/>
            <a:ext cx="0" cy="387706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88812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8736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0604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17843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32089" y="2333548"/>
            <a:ext cx="0" cy="153620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32089" y="2772460"/>
            <a:ext cx="0" cy="197511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32089" y="3496665"/>
            <a:ext cx="0" cy="292608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32089" y="4147718"/>
            <a:ext cx="0" cy="16825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20025" y="3262579"/>
            <a:ext cx="43891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20025" y="2626156"/>
            <a:ext cx="0" cy="636423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20025" y="2626156"/>
            <a:ext cx="336499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85632" y="3255264"/>
            <a:ext cx="73152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58784" y="3255264"/>
            <a:ext cx="0" cy="73152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207654" y="3986784"/>
            <a:ext cx="351130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90534" y="4506163"/>
            <a:ext cx="373075" cy="0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63609" y="3525926"/>
            <a:ext cx="0" cy="980237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63609" y="3525926"/>
            <a:ext cx="87783" cy="0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653113" y="2852928"/>
            <a:ext cx="256032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306348" y="1528876"/>
            <a:ext cx="0" cy="307239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306348" y="3635654"/>
            <a:ext cx="0" cy="307238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29479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47472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8682" y="3174797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406701" y="3167482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45997" y="4754880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21331" y="4718304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503981" y="4074566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234733" y="1499616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973568" y="204825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756294" y="3489350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248595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2574829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367053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969203" y="1858061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1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998464" y="3079699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988198" y="23920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88198" y="2874874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2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988198" y="3694176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988198" y="42208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761427" y="2582266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207654" y="3942893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0" y="43891"/>
                </a:moveTo>
                <a:lnTo>
                  <a:pt x="95098" y="87782"/>
                </a:lnTo>
                <a:lnTo>
                  <a:pt x="95098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8756294" y="3482035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1814048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3262458" y="1741018"/>
            <a:ext cx="87782" cy="95097"/>
          </a:xfrm>
          <a:custGeom>
            <a:avLst/>
            <a:gdLst/>
            <a:ahLst/>
            <a:cxnLst/>
            <a:rect l="l" t="t" r="r" b="b"/>
            <a:pathLst>
              <a:path w="87782" h="95097">
                <a:moveTo>
                  <a:pt x="43891" y="95097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3262458" y="314553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3262458" y="3847795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028492" y="3430828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1644" y="3452774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67481" y="356250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67481" y="3942892"/>
            <a:ext cx="36576" cy="124359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4057" y="4067251"/>
            <a:ext cx="131674" cy="5120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204057" y="4118457"/>
            <a:ext cx="131674" cy="51207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167481" y="4169664"/>
            <a:ext cx="36576" cy="12435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67481" y="429402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101644" y="4674412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028492" y="4784140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032857" y="1097280"/>
            <a:ext cx="1960473" cy="4111142"/>
          </a:xfrm>
          <a:prstGeom prst="roundRect">
            <a:avLst>
              <a:gd name="adj" fmla="val 5372"/>
            </a:avLst>
          </a:prstGeom>
          <a:solidFill>
            <a:srgbClr val="FAFAFA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74259" y="1997049"/>
            <a:ext cx="1536192" cy="702259"/>
          </a:xfrm>
          <a:prstGeom prst="roundRect">
            <a:avLst>
              <a:gd name="adj" fmla="val 13500"/>
            </a:avLst>
          </a:prstGeom>
          <a:solidFill>
            <a:srgbClr val="D5D5D5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46873" y="797356"/>
            <a:ext cx="1170432" cy="1097280"/>
          </a:xfrm>
          <a:prstGeom prst="roundRect">
            <a:avLst>
              <a:gd name="adj" fmla="val 6719"/>
            </a:avLst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64438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44383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0656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69998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99979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76215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75557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55575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81775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811171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11170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7873350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866766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66766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928945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922362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22361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7984541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77957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77957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040136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033553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33552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095732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089148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89148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151327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14474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44743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20692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200339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00339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262518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825593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255934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831811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831153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11530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37370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439558" y="2187244"/>
            <a:ext cx="1177747" cy="2538374"/>
          </a:xfrm>
          <a:prstGeom prst="roundRect">
            <a:avLst>
              <a:gd name="adj" fmla="val 8049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878470" y="2465222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571231" y="2977286"/>
            <a:ext cx="914400" cy="519379"/>
          </a:xfrm>
          <a:prstGeom prst="roundRect">
            <a:avLst>
              <a:gd name="adj" fmla="val 16225"/>
            </a:avLst>
          </a:prstGeom>
          <a:solidFill>
            <a:srgbClr val="D8D8D8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78470" y="3833164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659014" y="4323283"/>
            <a:ext cx="738835" cy="358444"/>
          </a:xfrm>
          <a:prstGeom prst="roundRect">
            <a:avLst>
              <a:gd name="adj" fmla="val 20571"/>
            </a:avLst>
          </a:prstGeom>
          <a:solidFill>
            <a:srgbClr val="D6D6D6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8909913" y="804672"/>
            <a:ext cx="1170432" cy="4264761"/>
          </a:xfrm>
          <a:prstGeom prst="roundRect">
            <a:avLst>
              <a:gd name="adj" fmla="val 6300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968435" y="1989734"/>
            <a:ext cx="1046073" cy="599846"/>
          </a:xfrm>
          <a:prstGeom prst="roundRect">
            <a:avLst>
              <a:gd name="adj" fmla="val 16682"/>
            </a:avLst>
          </a:prstGeom>
          <a:solidFill>
            <a:srgbClr val="D6D6D6"/>
          </a:solidFill>
          <a:ln w="16824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424160" y="811987"/>
            <a:ext cx="1997049" cy="4023360"/>
          </a:xfrm>
          <a:prstGeom prst="roundRect">
            <a:avLst>
              <a:gd name="adj" fmla="val 8702"/>
            </a:avLst>
          </a:prstGeom>
          <a:solidFill>
            <a:srgbClr val="EBEBEB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592409" y="1565452"/>
            <a:ext cx="1053388" cy="3101644"/>
          </a:xfrm>
          <a:prstGeom prst="roundRect">
            <a:avLst>
              <a:gd name="adj" fmla="val 6499"/>
            </a:avLst>
          </a:prstGeom>
          <a:solidFill>
            <a:srgbClr val="FAFAFA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753344" y="165323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353190" y="165323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753344" y="2296972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353190" y="2296972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753344" y="2940710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353190" y="2940710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753344" y="3584448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353190" y="3584448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753344" y="422818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1353190" y="422818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960352" y="2040940"/>
            <a:ext cx="351129" cy="1623974"/>
          </a:xfrm>
          <a:prstGeom prst="rect">
            <a:avLst/>
          </a:prstGeom>
          <a:solidFill>
            <a:srgbClr val="D0D0D0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2684556" y="841248"/>
            <a:ext cx="1221638" cy="3950208"/>
          </a:xfrm>
          <a:prstGeom prst="roundRect">
            <a:avLst>
              <a:gd name="adj" fmla="val 6467"/>
            </a:avLst>
          </a:prstGeom>
          <a:solidFill>
            <a:srgbClr val="E6E6E6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2772339" y="1148486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2772339" y="1850745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2772339" y="3255264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2772339" y="3957523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4498726" y="321868"/>
            <a:ext cx="358444" cy="4681728"/>
          </a:xfrm>
          <a:prstGeom prst="rect">
            <a:avLst/>
          </a:prstGeom>
          <a:solidFill>
            <a:srgbClr val="EEEEEE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26464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50822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0550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84909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894637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018995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128723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253082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62810" y="1141171"/>
            <a:ext cx="212140" cy="124359"/>
          </a:xfrm>
          <a:custGeom>
            <a:avLst/>
            <a:gdLst/>
            <a:ahLst/>
            <a:cxnLst/>
            <a:rect l="l" t="t" r="r" b="b"/>
            <a:pathLst>
              <a:path w="212140" h="124359">
                <a:moveTo>
                  <a:pt x="0" y="124359"/>
                </a:moveTo>
                <a:lnTo>
                  <a:pt x="87782" y="0"/>
                </a:lnTo>
                <a:lnTo>
                  <a:pt x="212140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87168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72230" y="103875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811219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825850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64838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979469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18458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33088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272077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286707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425696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70355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602029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697126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828800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23898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055571" y="2838298"/>
            <a:ext cx="87783" cy="760780"/>
          </a:xfrm>
          <a:custGeom>
            <a:avLst/>
            <a:gdLst/>
            <a:ahLst/>
            <a:cxnLst/>
            <a:rect l="l" t="t" r="r" b="b"/>
            <a:pathLst>
              <a:path w="87783" h="760780">
                <a:moveTo>
                  <a:pt x="0" y="124358"/>
                </a:moveTo>
                <a:lnTo>
                  <a:pt x="87783" y="0"/>
                </a:lnTo>
                <a:lnTo>
                  <a:pt x="87783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38374" y="2830982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77363" y="2830982"/>
            <a:ext cx="87783" cy="702260"/>
          </a:xfrm>
          <a:custGeom>
            <a:avLst/>
            <a:gdLst/>
            <a:ahLst/>
            <a:cxnLst/>
            <a:rect l="l" t="t" r="r" b="b"/>
            <a:pathLst>
              <a:path w="87783" h="702260">
                <a:moveTo>
                  <a:pt x="0" y="124359"/>
                </a:moveTo>
                <a:lnTo>
                  <a:pt x="87783" y="0"/>
                </a:lnTo>
                <a:lnTo>
                  <a:pt x="87783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62733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801722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787091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926080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492301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623974" y="4374490"/>
            <a:ext cx="87783" cy="768096"/>
          </a:xfrm>
          <a:custGeom>
            <a:avLst/>
            <a:gdLst/>
            <a:ahLst/>
            <a:cxnLst/>
            <a:rect l="l" t="t" r="r" b="b"/>
            <a:pathLst>
              <a:path w="87783" h="768096">
                <a:moveTo>
                  <a:pt x="0" y="124358"/>
                </a:moveTo>
                <a:lnTo>
                  <a:pt x="87783" y="0"/>
                </a:lnTo>
                <a:lnTo>
                  <a:pt x="87783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719072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50746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5843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77517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60320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699309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684678" y="433059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23667" y="4330598"/>
            <a:ext cx="87783" cy="746151"/>
          </a:xfrm>
          <a:custGeom>
            <a:avLst/>
            <a:gdLst/>
            <a:ahLst/>
            <a:cxnLst/>
            <a:rect l="l" t="t" r="r" b="b"/>
            <a:pathLst>
              <a:path w="87783" h="746151">
                <a:moveTo>
                  <a:pt x="0" y="124359"/>
                </a:moveTo>
                <a:lnTo>
                  <a:pt x="87783" y="0"/>
                </a:lnTo>
                <a:lnTo>
                  <a:pt x="87783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09037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8026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3650285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87705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825850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4052621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1414" y="3160166"/>
            <a:ext cx="314554" cy="124359"/>
          </a:xfrm>
          <a:custGeom>
            <a:avLst/>
            <a:gdLst/>
            <a:ahLst/>
            <a:cxnLst/>
            <a:rect l="l" t="t" r="r" b="b"/>
            <a:pathLst>
              <a:path w="314554" h="124359">
                <a:moveTo>
                  <a:pt x="0" y="124359"/>
                </a:moveTo>
                <a:lnTo>
                  <a:pt x="87783" y="0"/>
                </a:lnTo>
                <a:lnTo>
                  <a:pt x="314554" y="0"/>
                </a:lnTo>
                <a:lnTo>
                  <a:pt x="226772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422818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44921" y="3708806"/>
            <a:ext cx="362102" cy="185806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03366" y="3708806"/>
            <a:ext cx="362102" cy="18580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61811" y="3708806"/>
            <a:ext cx="362102" cy="185806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544921" y="3891686"/>
            <a:ext cx="362102" cy="1858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903366" y="3891686"/>
            <a:ext cx="362102" cy="18580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261811" y="3891686"/>
            <a:ext cx="362102" cy="1858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544921" y="4074566"/>
            <a:ext cx="362102" cy="18580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03366" y="4074566"/>
            <a:ext cx="362102" cy="18580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261811" y="4074566"/>
            <a:ext cx="362102" cy="18580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44921" y="4257446"/>
            <a:ext cx="362102" cy="18580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03366" y="4257446"/>
            <a:ext cx="362102" cy="18580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261811" y="4257446"/>
            <a:ext cx="362102" cy="1858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544921" y="4440326"/>
            <a:ext cx="362102" cy="18580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903366" y="4440326"/>
            <a:ext cx="362102" cy="18580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261811" y="4440326"/>
            <a:ext cx="362102" cy="185806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129369" y="3679545"/>
            <a:ext cx="87782" cy="204825"/>
          </a:xfrm>
          <a:prstGeom prst="rect">
            <a:avLst/>
          </a:prstGeom>
          <a:solidFill>
            <a:srgbClr val="B7B7B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61043" y="2991916"/>
            <a:ext cx="87782" cy="892454"/>
          </a:xfrm>
          <a:prstGeom prst="rect">
            <a:avLst/>
          </a:prstGeom>
          <a:solidFill>
            <a:srgbClr val="7B7B7B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392716" y="3423513"/>
            <a:ext cx="87782" cy="460857"/>
          </a:xfrm>
          <a:prstGeom prst="rect">
            <a:avLst/>
          </a:prstGeom>
          <a:solidFill>
            <a:srgbClr val="97979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524390" y="3233318"/>
            <a:ext cx="87782" cy="651052"/>
          </a:xfrm>
          <a:prstGeom prst="rect">
            <a:avLst/>
          </a:prstGeom>
          <a:solidFill>
            <a:srgbClr val="888888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56064" y="3277209"/>
            <a:ext cx="87782" cy="607161"/>
          </a:xfrm>
          <a:prstGeom prst="rect">
            <a:avLst/>
          </a:prstGeom>
          <a:solidFill>
            <a:srgbClr val="ACACAC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787737" y="3145536"/>
            <a:ext cx="87782" cy="738835"/>
          </a:xfrm>
          <a:prstGeom prst="rect">
            <a:avLst/>
          </a:prstGeom>
          <a:solidFill>
            <a:srgbClr val="C1C1C1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19411" y="3613708"/>
            <a:ext cx="87782" cy="270662"/>
          </a:xfrm>
          <a:prstGeom prst="rect">
            <a:avLst/>
          </a:prstGeom>
          <a:solidFill>
            <a:srgbClr val="969696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26464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0550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94636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128723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362809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672230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825849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97946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3308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86707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470355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697126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923897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538374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662732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787091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492300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19072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945843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560320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84678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809036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65028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825849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00141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7936992" y="2618841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032089" y="2523744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7936992" y="3986784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032089" y="3891686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092793" y="3891686"/>
            <a:ext cx="826618" cy="0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100108" y="2940710"/>
            <a:ext cx="0" cy="9509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921593" y="1821484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11018154" y="179368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11075212" y="1741017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1258092" y="1821484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21593" y="2465222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11018154" y="2437424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1075212" y="2465222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1258092" y="2465222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0921593" y="3108960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11018154" y="3081162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11075212" y="3028492"/>
            <a:ext cx="160935" cy="80468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1258092" y="3108960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921593" y="3752697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11018154" y="3724899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11075212" y="3752697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1258092" y="3752697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921593" y="4396435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11018154" y="436863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1075212" y="4315968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1258092" y="4396435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80"/>
          <p:cNvSpPr/>
          <p:nvPr/>
        </p:nvSpPr>
        <p:spPr>
          <a:xfrm>
            <a:off x="11131461" y="174101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1139155" y="2424374"/>
            <a:ext cx="96992" cy="87691"/>
          </a:xfrm>
          <a:custGeom>
            <a:avLst/>
            <a:gdLst/>
            <a:ahLst/>
            <a:cxnLst/>
            <a:rect l="l" t="t" r="r" b="b"/>
            <a:pathLst>
              <a:path w="96992" h="87691">
                <a:moveTo>
                  <a:pt x="96992" y="48164"/>
                </a:moveTo>
                <a:lnTo>
                  <a:pt x="3986" y="0"/>
                </a:lnTo>
                <a:lnTo>
                  <a:pt x="0" y="87691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1131461" y="3028493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1139155" y="3711849"/>
            <a:ext cx="96992" cy="87692"/>
          </a:xfrm>
          <a:custGeom>
            <a:avLst/>
            <a:gdLst/>
            <a:ahLst/>
            <a:cxnLst/>
            <a:rect l="l" t="t" r="r" b="b"/>
            <a:pathLst>
              <a:path w="96992" h="87692">
                <a:moveTo>
                  <a:pt x="96992" y="48164"/>
                </a:moveTo>
                <a:lnTo>
                  <a:pt x="3986" y="0"/>
                </a:lnTo>
                <a:lnTo>
                  <a:pt x="0" y="8769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1131461" y="431596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94424" y="90891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Spatio-Temporal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17910" y="339608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Encoders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68172" y="632764"/>
            <a:ext cx="3028492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(2D-EEGNet &amp; Conv1D)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3481" y="142097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Feature Tokenizer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89427" y="486460"/>
            <a:ext cx="179953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(Projection to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547872" y="683971"/>
            <a:ext cx="108264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K, V &amp; Q Tokens)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39588" y="354238"/>
            <a:ext cx="2234793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Physiology-Guided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32202" y="60295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Cross-Attention Core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692676" y="42007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Attentive Pooling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0305653" y="178673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Dual-Stream Fusion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305653" y="434705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(Deep vs Shallow)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2507163" y="18928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Entropy Gating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2379147" y="416052"/>
            <a:ext cx="182514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(Eq. 7 F_g)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-61447" y="1526682"/>
            <a:ext cx="591068" cy="296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71717"/>
                </a:solidFill>
                <a:latin typeface="Times New Roman"/>
              </a:rPr>
              <a:t>EEG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-40233" y="3118104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-40233" y="4661611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359505" y="2157069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EEG_feats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302812" y="239115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[B, 250, 64]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136392" y="3685946"/>
            <a:ext cx="54498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Concat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4283" y="4649541"/>
            <a:ext cx="1512783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fNIRS_feats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313785" y="4905573"/>
            <a:ext cx="1389888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[B, 124, 64]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727082" y="1230050"/>
            <a:ext cx="2557393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171717"/>
                </a:solidFill>
                <a:latin typeface="Times New Roman"/>
              </a:rPr>
              <a:t>Linear projections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47045" y="2080625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Delay-Aware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347045" y="2329342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Attention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016398" y="4622292"/>
            <a:ext cx="208117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Attention Matrix A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8858" y="4898257"/>
            <a:ext cx="1266992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(Priors P &amp; M)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536850" y="1349105"/>
            <a:ext cx="990478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H_f tokens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375550" y="161574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1717"/>
                </a:solidFill>
                <a:latin typeface="Times New Roman"/>
              </a:rPr>
              <a:t>[B, 124, 64]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352507" y="3102742"/>
            <a:ext cx="135916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171717"/>
                </a:solidFill>
                <a:latin typeface="Times New Roman"/>
              </a:rPr>
              <a:t>Attn Pool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744602" y="4375586"/>
            <a:ext cx="56034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MLP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191207" y="4765304"/>
            <a:ext cx="1681764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Temporal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67721" y="4984760"/>
            <a:ext cx="112873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pooling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767267" y="95737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Uncertainty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087307" y="1206093"/>
            <a:ext cx="80101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8703259" y="145481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H(p̂) (Eq. 7)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838590" y="216438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H(p̂)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825788" y="4164726"/>
            <a:ext cx="1338681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61338" y="4413443"/>
            <a:ext cx="867582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>Weights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450860" y="997244"/>
            <a:ext cx="985357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DejaVu Serif"/>
              </a:rPr>
              <a:t>z_s ∈ ℝ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164824" y="966520"/>
            <a:ext cx="391363" cy="159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3" b="0" i="1">
                <a:solidFill>
                  <a:srgbClr val="171717"/>
                </a:solidFill>
                <a:latin typeface="Times New Roman"/>
              </a:rPr>
              <a:t>B×64</a:t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10855756" y="2717231"/>
            <a:ext cx="2560320" cy="286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71717"/>
                </a:solidFill>
                <a:latin typeface="Times New Roman"/>
              </a:rPr>
              <a:t>g⊙z_d + (1−g)⊙z_s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1574109" y="3749771"/>
            <a:ext cx="102120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[B, 64]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841833" y="1206093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2969849" y="1908352"/>
            <a:ext cx="67299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GELU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2841833" y="3312871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2777825" y="4015130"/>
            <a:ext cx="105704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Sigmoid</a:t>
            </a:r>
          </a:p>
        </p:txBody>
      </p:sp>
      <p:sp>
        <p:nvSpPr>
          <p:cNvPr id="333" name="TextBox 332"/>
          <p:cNvSpPr txBox="1"/>
          <p:nvPr/>
        </p:nvSpPr>
        <p:spPr>
          <a:xfrm rot="16200000">
            <a:off x="13394131" y="2493751"/>
            <a:ext cx="2560320" cy="323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Times New Roman"/>
              </a:rPr>
              <a:t>Classifier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4271955" y="5081137"/>
            <a:ext cx="77541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[B, 2]</a:t>
            </a:r>
          </a:p>
        </p:txBody>
      </p:sp>
      <p:cxnSp>
        <p:nvCxnSpPr>
          <p:cNvPr id="335" name="Connector 334"/>
          <p:cNvCxnSpPr/>
          <p:nvPr/>
        </p:nvCxnSpPr>
        <p:spPr>
          <a:xfrm>
            <a:off x="13304520" y="2231136"/>
            <a:ext cx="0" cy="1014984"/>
          </a:xfrm>
          <a:prstGeom prst="line">
            <a:avLst/>
          </a:prstGeom>
          <a:ln w="15875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
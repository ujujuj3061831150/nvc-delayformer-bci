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17459" y="1901952"/>
            <a:ext cx="0" cy="241401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305" y="3533241"/>
            <a:ext cx="234087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9606" y="2852928"/>
            <a:ext cx="234086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32089" y="2333548"/>
            <a:ext cx="0" cy="153620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32089" y="2772460"/>
            <a:ext cx="0" cy="197511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32089" y="3496665"/>
            <a:ext cx="0" cy="292608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32089" y="4147718"/>
            <a:ext cx="0" cy="16825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20025" y="3262579"/>
            <a:ext cx="43891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0025" y="2626156"/>
            <a:ext cx="0" cy="636423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5" y="2626156"/>
            <a:ext cx="336499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5632" y="3255264"/>
            <a:ext cx="73152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3255264"/>
            <a:ext cx="0" cy="73152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207654" y="3986784"/>
            <a:ext cx="351130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084356" y="1528876"/>
            <a:ext cx="0" cy="307239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084356" y="3635654"/>
            <a:ext cx="0" cy="307238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34733" y="1499616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973568" y="204825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756294" y="3489350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8595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367053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88198" y="23920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88198" y="2874874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2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988198" y="3694176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988198" y="42208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761427" y="2582266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207654" y="3942893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0" y="43891"/>
                </a:moveTo>
                <a:lnTo>
                  <a:pt x="95098" y="87782"/>
                </a:lnTo>
                <a:lnTo>
                  <a:pt x="95098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1040466" y="1741018"/>
            <a:ext cx="87782" cy="95097"/>
          </a:xfrm>
          <a:custGeom>
            <a:avLst/>
            <a:gdLst/>
            <a:ahLst/>
            <a:cxnLst/>
            <a:rect l="l" t="t" r="r" b="b"/>
            <a:pathLst>
              <a:path w="87782" h="95097">
                <a:moveTo>
                  <a:pt x="43891" y="95097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040466" y="3847795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46873" y="797356"/>
            <a:ext cx="1170432" cy="1097280"/>
          </a:xfrm>
          <a:prstGeom prst="roundRect">
            <a:avLst>
              <a:gd name="adj" fmla="val 6719"/>
            </a:avLst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64438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4383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0656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69998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99979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76215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75557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55575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81775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811171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11170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7873350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866766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66766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928945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22362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22361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984541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77957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77957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040136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033553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33552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095732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089148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89148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151327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14474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44743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0692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00339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00339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62518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25593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55934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831811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31153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11530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37370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439558" y="2187244"/>
            <a:ext cx="1177747" cy="2538374"/>
          </a:xfrm>
          <a:prstGeom prst="roundRect">
            <a:avLst>
              <a:gd name="adj" fmla="val 8049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878470" y="2465222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571231" y="2977286"/>
            <a:ext cx="914400" cy="519379"/>
          </a:xfrm>
          <a:prstGeom prst="roundRect">
            <a:avLst>
              <a:gd name="adj" fmla="val 16225"/>
            </a:avLst>
          </a:prstGeom>
          <a:solidFill>
            <a:srgbClr val="D8D8D8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878470" y="3833164"/>
            <a:ext cx="307238" cy="307238"/>
          </a:xfrm>
          <a:prstGeom prst="ellipse">
            <a:avLst/>
          </a:prstGeom>
          <a:solidFill>
            <a:srgbClr val="F5F5F5"/>
          </a:solidFill>
          <a:ln w="20482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659014" y="4323283"/>
            <a:ext cx="738835" cy="358444"/>
          </a:xfrm>
          <a:prstGeom prst="roundRect">
            <a:avLst>
              <a:gd name="adj" fmla="val 20571"/>
            </a:avLst>
          </a:prstGeom>
          <a:solidFill>
            <a:srgbClr val="D6D6D6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909913" y="804672"/>
            <a:ext cx="1170432" cy="4264761"/>
          </a:xfrm>
          <a:prstGeom prst="roundRect">
            <a:avLst>
              <a:gd name="adj" fmla="val 6300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968435" y="1989734"/>
            <a:ext cx="1046073" cy="599846"/>
          </a:xfrm>
          <a:prstGeom prst="roundRect">
            <a:avLst>
              <a:gd name="adj" fmla="val 16682"/>
            </a:avLst>
          </a:prstGeom>
          <a:solidFill>
            <a:srgbClr val="D6D6D6"/>
          </a:solidFill>
          <a:ln w="16824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1814048" y="811987"/>
            <a:ext cx="1997049" cy="4023360"/>
          </a:xfrm>
          <a:prstGeom prst="roundRect">
            <a:avLst>
              <a:gd name="adj" fmla="val 8702"/>
            </a:avLst>
          </a:prstGeom>
          <a:solidFill>
            <a:srgbClr val="EBEBEB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1982297" y="1565452"/>
            <a:ext cx="1053388" cy="3101644"/>
          </a:xfrm>
          <a:prstGeom prst="roundRect">
            <a:avLst>
              <a:gd name="adj" fmla="val 6499"/>
            </a:avLst>
          </a:prstGeom>
          <a:solidFill>
            <a:srgbClr val="FAFAFA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2143232" y="165323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2743078" y="165323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2143232" y="2296972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2743078" y="2296972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2143232" y="2940710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2743078" y="2940710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2143232" y="3584448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2743078" y="3584448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2143232" y="422818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743078" y="422818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3350240" y="2040940"/>
            <a:ext cx="351129" cy="1623974"/>
          </a:xfrm>
          <a:prstGeom prst="rect">
            <a:avLst/>
          </a:prstGeom>
          <a:solidFill>
            <a:srgbClr val="D0D0D0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0462564" y="841248"/>
            <a:ext cx="1221638" cy="3950208"/>
          </a:xfrm>
          <a:prstGeom prst="roundRect">
            <a:avLst>
              <a:gd name="adj" fmla="val 6467"/>
            </a:avLst>
          </a:prstGeom>
          <a:solidFill>
            <a:srgbClr val="E6E6E6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0550347" y="1148486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0550347" y="1850745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0550347" y="3255264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0550347" y="3957523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4498726" y="321868"/>
            <a:ext cx="358444" cy="4681728"/>
          </a:xfrm>
          <a:prstGeom prst="rect">
            <a:avLst/>
          </a:prstGeom>
          <a:solidFill>
            <a:srgbClr val="EEEEEE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129369" y="3679545"/>
            <a:ext cx="87782" cy="204825"/>
          </a:xfrm>
          <a:prstGeom prst="rect">
            <a:avLst/>
          </a:prstGeom>
          <a:solidFill>
            <a:srgbClr val="B7B7B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61043" y="2991916"/>
            <a:ext cx="87782" cy="892454"/>
          </a:xfrm>
          <a:prstGeom prst="rect">
            <a:avLst/>
          </a:prstGeom>
          <a:solidFill>
            <a:srgbClr val="7B7B7B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392716" y="3423513"/>
            <a:ext cx="87782" cy="460857"/>
          </a:xfrm>
          <a:prstGeom prst="rect">
            <a:avLst/>
          </a:prstGeom>
          <a:solidFill>
            <a:srgbClr val="97979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524390" y="3233318"/>
            <a:ext cx="87782" cy="651052"/>
          </a:xfrm>
          <a:prstGeom prst="rect">
            <a:avLst/>
          </a:prstGeom>
          <a:solidFill>
            <a:srgbClr val="888888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56064" y="3277209"/>
            <a:ext cx="87782" cy="607161"/>
          </a:xfrm>
          <a:prstGeom prst="rect">
            <a:avLst/>
          </a:prstGeom>
          <a:solidFill>
            <a:srgbClr val="ACACAC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787737" y="3145536"/>
            <a:ext cx="87782" cy="738835"/>
          </a:xfrm>
          <a:prstGeom prst="rect">
            <a:avLst/>
          </a:prstGeom>
          <a:solidFill>
            <a:srgbClr val="C1C1C1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19411" y="3613708"/>
            <a:ext cx="87782" cy="270662"/>
          </a:xfrm>
          <a:prstGeom prst="rect">
            <a:avLst/>
          </a:prstGeom>
          <a:solidFill>
            <a:srgbClr val="969696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7936992" y="2618841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032089" y="2523744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936992" y="3986784"/>
            <a:ext cx="190195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032089" y="3891686"/>
            <a:ext cx="0" cy="190195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092793" y="3891686"/>
            <a:ext cx="826618" cy="0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100108" y="2940710"/>
            <a:ext cx="0" cy="9509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2311481" y="1821484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12408042" y="179368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2465100" y="1741017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2647980" y="1821484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2311481" y="2465222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12408042" y="2437424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2465100" y="2465222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2647980" y="2465222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2311481" y="3108960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2408042" y="3081162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2465100" y="3028492"/>
            <a:ext cx="160935" cy="80468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2647980" y="3108960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2311481" y="3752697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12408042" y="3724899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2465100" y="3752697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2647980" y="3752697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2311481" y="4396435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12408042" y="436863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2465100" y="4315968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2647980" y="4396435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2521349" y="174101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2529043" y="2424374"/>
            <a:ext cx="96992" cy="87691"/>
          </a:xfrm>
          <a:custGeom>
            <a:avLst/>
            <a:gdLst/>
            <a:ahLst/>
            <a:cxnLst/>
            <a:rect l="l" t="t" r="r" b="b"/>
            <a:pathLst>
              <a:path w="96992" h="87691">
                <a:moveTo>
                  <a:pt x="96992" y="48164"/>
                </a:moveTo>
                <a:lnTo>
                  <a:pt x="3986" y="0"/>
                </a:lnTo>
                <a:lnTo>
                  <a:pt x="0" y="87691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2521349" y="3028493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2529043" y="3711849"/>
            <a:ext cx="96992" cy="87692"/>
          </a:xfrm>
          <a:custGeom>
            <a:avLst/>
            <a:gdLst/>
            <a:ahLst/>
            <a:cxnLst/>
            <a:rect l="l" t="t" r="r" b="b"/>
            <a:pathLst>
              <a:path w="96992" h="87692">
                <a:moveTo>
                  <a:pt x="96992" y="48164"/>
                </a:moveTo>
                <a:lnTo>
                  <a:pt x="3986" y="0"/>
                </a:lnTo>
                <a:lnTo>
                  <a:pt x="0" y="8769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2521349" y="431596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Signal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Tokens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Delay-Guided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Temporal Pooling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1695541" y="178673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Dual-Stream Fusion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05653" y="434705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285171" y="18928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Entropy Gate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379147" y="416052"/>
            <a:ext cx="182514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 features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136392" y="3685946"/>
            <a:ext cx="54498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 features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Prior + Mask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536850" y="1349105"/>
            <a:ext cx="990478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>Tokens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75550" y="161574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352507" y="3102742"/>
            <a:ext cx="135916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171717"/>
                </a:solidFill>
                <a:latin typeface="Times New Roman"/>
              </a:rPr>
              <a:t>Attn Pool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744602" y="4375586"/>
            <a:ext cx="56034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>MLP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191207" y="4765304"/>
            <a:ext cx="1681764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67721" y="4984760"/>
            <a:ext cx="112873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67267" y="95737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Predictive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087307" y="1206093"/>
            <a:ext cx="80101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703259" y="145481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838590" y="216438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H(p̂)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825788" y="4164726"/>
            <a:ext cx="1338681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61338" y="4413443"/>
            <a:ext cx="867582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450860" y="997244"/>
            <a:ext cx="985357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DejaVu Serif"/>
              </a:rPr>
              <a:t/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164824" y="966520"/>
            <a:ext cx="391363" cy="159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3" b="0" i="1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12245644" y="2717231"/>
            <a:ext cx="2560320" cy="286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Times New Roman"/>
              </a:rPr>
              <a:t>Fusion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574109" y="3749771"/>
            <a:ext cx="102120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0619841" y="1206093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0747857" y="1908352"/>
            <a:ext cx="67299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GELU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0619841" y="3312871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0555833" y="4015130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Sigmoid</a:t>
            </a: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13394131" y="2493751"/>
            <a:ext cx="2560320" cy="323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Times New Roman"/>
              </a:rPr>
              <a:t>Classifier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4271955" y="5081137"/>
            <a:ext cx="77541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222992" y="4873752"/>
            <a:ext cx="2697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50">
                <a:solidFill>
                  <a:srgbClr val="171717"/>
                </a:solidFill>
                <a:latin typeface="Times New Roman"/>
              </a:defRPr>
            </a:pPr>
            <a:r>
              <a:t/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11686032" y="2871216"/>
            <a:ext cx="118872" cy="0"/>
          </a:xfrm>
          <a:prstGeom prst="line">
            <a:avLst/>
          </a:prstGeom>
          <a:ln w="1397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3807440" y="2871216"/>
            <a:ext cx="658368" cy="0"/>
          </a:xfrm>
          <a:prstGeom prst="line">
            <a:avLst/>
          </a:prstGeom>
          <a:ln w="1397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/>
          <p:cNvSpPr txBox="1"/>
          <p:nvPr/>
        </p:nvSpPr>
        <p:spPr>
          <a:xfrm>
            <a:off x="7360920" y="502920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>
                <a:solidFill>
                  <a:srgbClr val="171717"/>
                </a:solidFill>
                <a:latin typeface="Times New Roman"/>
              </a:defRPr>
            </a:pPr>
            <a:r>
              <a:rPr sz="1000"/>
              <a:t>Shallow features</a:t>
            </a:r>
          </a:p>
        </p:txBody>
      </p:sp>
      <p:cxnSp>
        <p:nvCxnSpPr>
          <p:cNvPr id="340" name="Connector 339"/>
          <p:cNvCxnSpPr/>
          <p:nvPr/>
        </p:nvCxnSpPr>
        <p:spPr>
          <a:xfrm>
            <a:off x="8595360" y="5193792"/>
            <a:ext cx="4160520" cy="0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1045952" y="4791456"/>
            <a:ext cx="0" cy="402336"/>
          </a:xfrm>
          <a:prstGeom prst="line">
            <a:avLst/>
          </a:prstGeom>
          <a:ln w="1270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12755880" y="4837176"/>
            <a:ext cx="0" cy="356616"/>
          </a:xfrm>
          <a:prstGeom prst="line">
            <a:avLst/>
          </a:prstGeom>
          <a:ln w="1270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8677656" y="3529584"/>
            <a:ext cx="0" cy="1792224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8677656" y="5321808"/>
            <a:ext cx="4718304" cy="0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3395960" y="4837176"/>
            <a:ext cx="0" cy="484632"/>
          </a:xfrm>
          <a:prstGeom prst="line">
            <a:avLst/>
          </a:prstGeom>
          <a:ln w="1270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
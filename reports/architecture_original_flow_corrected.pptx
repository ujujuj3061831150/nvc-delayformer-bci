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981529" cy="547176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981529" cy="54717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6617" y="109728"/>
            <a:ext cx="13320979" cy="5266944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828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94944" y="1667865"/>
            <a:ext cx="694944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867558" y="1667865"/>
            <a:ext cx="702259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72998" y="3218688"/>
            <a:ext cx="760781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43353" y="3211372"/>
            <a:ext cx="358445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5683" y="4798771"/>
            <a:ext cx="775411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50668" y="4762195"/>
            <a:ext cx="365760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35731" y="4118457"/>
            <a:ext cx="263347" cy="0"/>
          </a:xfrm>
          <a:prstGeom prst="line">
            <a:avLst/>
          </a:prstGeom>
          <a:ln w="1975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462272" y="1543507"/>
            <a:ext cx="160934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23206" y="1543507"/>
            <a:ext cx="0" cy="1228953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23206" y="2772460"/>
            <a:ext cx="314554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03750" y="3869740"/>
            <a:ext cx="226771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630521" y="2772460"/>
            <a:ext cx="0" cy="109728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30521" y="2772460"/>
            <a:ext cx="307239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93331" y="1543507"/>
            <a:ext cx="336499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13094" y="1521561"/>
            <a:ext cx="0" cy="431597"/>
          </a:xfrm>
          <a:prstGeom prst="line">
            <a:avLst/>
          </a:prstGeom>
          <a:ln w="19019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42355" y="2728569"/>
            <a:ext cx="0" cy="446227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76672" y="2772460"/>
            <a:ext cx="0" cy="409652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76672" y="3182112"/>
            <a:ext cx="1294790" cy="0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671462" y="2794406"/>
            <a:ext cx="0" cy="387706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88812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88736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10604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17843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1294790" y="1623974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3474720" y="1623974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338682" y="3174797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406701" y="3167482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345997" y="4754880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2421331" y="4718304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3503981" y="4074566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842662" y="2728570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2662" y="2728570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969203" y="1858061"/>
            <a:ext cx="87783" cy="95097"/>
          </a:xfrm>
          <a:custGeom>
            <a:avLst/>
            <a:gdLst/>
            <a:ahLst/>
            <a:cxnLst/>
            <a:rect l="l" t="t" r="r" b="b"/>
            <a:pathLst>
              <a:path w="87783" h="95097">
                <a:moveTo>
                  <a:pt x="43891" y="95097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5998464" y="3079699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3028492" y="3430828"/>
            <a:ext cx="73152" cy="2194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101644" y="3452774"/>
            <a:ext cx="65837" cy="10972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167481" y="3562502"/>
            <a:ext cx="0" cy="380390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167481" y="3942892"/>
            <a:ext cx="36576" cy="124359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204057" y="4067251"/>
            <a:ext cx="131674" cy="5120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3204057" y="4118457"/>
            <a:ext cx="131674" cy="51207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3167481" y="4169664"/>
            <a:ext cx="36576" cy="12435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167481" y="4294022"/>
            <a:ext cx="0" cy="380390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3101644" y="4674412"/>
            <a:ext cx="65837" cy="10972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3028492" y="4784140"/>
            <a:ext cx="73152" cy="2194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5032857" y="1097280"/>
            <a:ext cx="1960473" cy="4111142"/>
          </a:xfrm>
          <a:prstGeom prst="roundRect">
            <a:avLst>
              <a:gd name="adj" fmla="val 5372"/>
            </a:avLst>
          </a:prstGeom>
          <a:solidFill>
            <a:srgbClr val="FAFAFA"/>
          </a:solidFill>
          <a:ln w="1828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274259" y="1997049"/>
            <a:ext cx="1536192" cy="702259"/>
          </a:xfrm>
          <a:prstGeom prst="roundRect">
            <a:avLst>
              <a:gd name="adj" fmla="val 13500"/>
            </a:avLst>
          </a:prstGeom>
          <a:solidFill>
            <a:srgbClr val="D5D5D5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1426464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2" y="0"/>
                </a:lnTo>
                <a:lnTo>
                  <a:pt x="212141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FAFAFA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550822" y="1141171"/>
            <a:ext cx="87783" cy="885139"/>
          </a:xfrm>
          <a:custGeom>
            <a:avLst/>
            <a:gdLst/>
            <a:ahLst/>
            <a:cxnLst/>
            <a:rect l="l" t="t" r="r" b="b"/>
            <a:pathLst>
              <a:path w="87783" h="885139">
                <a:moveTo>
                  <a:pt x="0" y="124359"/>
                </a:moveTo>
                <a:lnTo>
                  <a:pt x="87783" y="0"/>
                </a:lnTo>
                <a:lnTo>
                  <a:pt x="87783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1660550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3" y="0"/>
                </a:lnTo>
                <a:lnTo>
                  <a:pt x="212141" y="0"/>
                </a:lnTo>
                <a:lnTo>
                  <a:pt x="12435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784909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894637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2" y="0"/>
                </a:lnTo>
                <a:lnTo>
                  <a:pt x="212141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2018995" y="1141171"/>
            <a:ext cx="87783" cy="885139"/>
          </a:xfrm>
          <a:custGeom>
            <a:avLst/>
            <a:gdLst/>
            <a:ahLst/>
            <a:cxnLst/>
            <a:rect l="l" t="t" r="r" b="b"/>
            <a:pathLst>
              <a:path w="87783" h="885139">
                <a:moveTo>
                  <a:pt x="0" y="124359"/>
                </a:moveTo>
                <a:lnTo>
                  <a:pt x="87783" y="0"/>
                </a:lnTo>
                <a:lnTo>
                  <a:pt x="87783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2128723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3" y="0"/>
                </a:lnTo>
                <a:lnTo>
                  <a:pt x="212141" y="0"/>
                </a:lnTo>
                <a:lnTo>
                  <a:pt x="12435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2253082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2362810" y="1141171"/>
            <a:ext cx="212140" cy="124359"/>
          </a:xfrm>
          <a:custGeom>
            <a:avLst/>
            <a:gdLst/>
            <a:ahLst/>
            <a:cxnLst/>
            <a:rect l="l" t="t" r="r" b="b"/>
            <a:pathLst>
              <a:path w="212140" h="124359">
                <a:moveTo>
                  <a:pt x="0" y="124359"/>
                </a:moveTo>
                <a:lnTo>
                  <a:pt x="87782" y="0"/>
                </a:lnTo>
                <a:lnTo>
                  <a:pt x="212140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2487168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3672230" y="1038758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3811219" y="1038758"/>
            <a:ext cx="87783" cy="1024128"/>
          </a:xfrm>
          <a:custGeom>
            <a:avLst/>
            <a:gdLst/>
            <a:ahLst/>
            <a:cxnLst/>
            <a:rect l="l" t="t" r="r" b="b"/>
            <a:pathLst>
              <a:path w="87783" h="1024128">
                <a:moveTo>
                  <a:pt x="0" y="124359"/>
                </a:moveTo>
                <a:lnTo>
                  <a:pt x="87783" y="0"/>
                </a:lnTo>
                <a:lnTo>
                  <a:pt x="87783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3825850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3964838" y="1038758"/>
            <a:ext cx="87783" cy="1024128"/>
          </a:xfrm>
          <a:custGeom>
            <a:avLst/>
            <a:gdLst/>
            <a:ahLst/>
            <a:cxnLst/>
            <a:rect l="l" t="t" r="r" b="b"/>
            <a:pathLst>
              <a:path w="87783" h="1024128">
                <a:moveTo>
                  <a:pt x="0" y="124359"/>
                </a:moveTo>
                <a:lnTo>
                  <a:pt x="87783" y="0"/>
                </a:lnTo>
                <a:lnTo>
                  <a:pt x="87783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3979469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4118458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4133088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4272077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4286707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3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4425696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1470355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602029" y="2838298"/>
            <a:ext cx="87782" cy="760780"/>
          </a:xfrm>
          <a:custGeom>
            <a:avLst/>
            <a:gdLst/>
            <a:ahLst/>
            <a:cxnLst/>
            <a:rect l="l" t="t" r="r" b="b"/>
            <a:pathLst>
              <a:path w="87782" h="760780">
                <a:moveTo>
                  <a:pt x="0" y="124358"/>
                </a:moveTo>
                <a:lnTo>
                  <a:pt x="87782" y="0"/>
                </a:lnTo>
                <a:lnTo>
                  <a:pt x="87782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1697126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1828800" y="2838298"/>
            <a:ext cx="87782" cy="760780"/>
          </a:xfrm>
          <a:custGeom>
            <a:avLst/>
            <a:gdLst/>
            <a:ahLst/>
            <a:cxnLst/>
            <a:rect l="l" t="t" r="r" b="b"/>
            <a:pathLst>
              <a:path w="87782" h="760780">
                <a:moveTo>
                  <a:pt x="0" y="124358"/>
                </a:moveTo>
                <a:lnTo>
                  <a:pt x="87782" y="0"/>
                </a:lnTo>
                <a:lnTo>
                  <a:pt x="87782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923898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3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2055571" y="2838298"/>
            <a:ext cx="87783" cy="760780"/>
          </a:xfrm>
          <a:custGeom>
            <a:avLst/>
            <a:gdLst/>
            <a:ahLst/>
            <a:cxnLst/>
            <a:rect l="l" t="t" r="r" b="b"/>
            <a:pathLst>
              <a:path w="87783" h="760780">
                <a:moveTo>
                  <a:pt x="0" y="124358"/>
                </a:moveTo>
                <a:lnTo>
                  <a:pt x="87783" y="0"/>
                </a:lnTo>
                <a:lnTo>
                  <a:pt x="87783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2538374" y="2830982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2677363" y="2830982"/>
            <a:ext cx="87783" cy="702260"/>
          </a:xfrm>
          <a:custGeom>
            <a:avLst/>
            <a:gdLst/>
            <a:ahLst/>
            <a:cxnLst/>
            <a:rect l="l" t="t" r="r" b="b"/>
            <a:pathLst>
              <a:path w="87783" h="702260">
                <a:moveTo>
                  <a:pt x="0" y="124359"/>
                </a:moveTo>
                <a:lnTo>
                  <a:pt x="87783" y="0"/>
                </a:lnTo>
                <a:lnTo>
                  <a:pt x="87783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FAFAFA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2662733" y="2830982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2801722" y="2830982"/>
            <a:ext cx="87782" cy="702260"/>
          </a:xfrm>
          <a:custGeom>
            <a:avLst/>
            <a:gdLst/>
            <a:ahLst/>
            <a:cxnLst/>
            <a:rect l="l" t="t" r="r" b="b"/>
            <a:pathLst>
              <a:path w="87782" h="702260">
                <a:moveTo>
                  <a:pt x="0" y="124359"/>
                </a:moveTo>
                <a:lnTo>
                  <a:pt x="87782" y="0"/>
                </a:lnTo>
                <a:lnTo>
                  <a:pt x="87782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2787091" y="2830982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3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2926080" y="2830982"/>
            <a:ext cx="87782" cy="702260"/>
          </a:xfrm>
          <a:custGeom>
            <a:avLst/>
            <a:gdLst/>
            <a:ahLst/>
            <a:cxnLst/>
            <a:rect l="l" t="t" r="r" b="b"/>
            <a:pathLst>
              <a:path w="87782" h="702260">
                <a:moveTo>
                  <a:pt x="0" y="124359"/>
                </a:moveTo>
                <a:lnTo>
                  <a:pt x="87782" y="0"/>
                </a:lnTo>
                <a:lnTo>
                  <a:pt x="87782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492301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3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1623974" y="4374490"/>
            <a:ext cx="87783" cy="768096"/>
          </a:xfrm>
          <a:custGeom>
            <a:avLst/>
            <a:gdLst/>
            <a:ahLst/>
            <a:cxnLst/>
            <a:rect l="l" t="t" r="r" b="b"/>
            <a:pathLst>
              <a:path w="87783" h="768096">
                <a:moveTo>
                  <a:pt x="0" y="124358"/>
                </a:moveTo>
                <a:lnTo>
                  <a:pt x="87783" y="0"/>
                </a:lnTo>
                <a:lnTo>
                  <a:pt x="87783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1719072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850746" y="4374490"/>
            <a:ext cx="87782" cy="768096"/>
          </a:xfrm>
          <a:custGeom>
            <a:avLst/>
            <a:gdLst/>
            <a:ahLst/>
            <a:cxnLst/>
            <a:rect l="l" t="t" r="r" b="b"/>
            <a:pathLst>
              <a:path w="87782" h="768096">
                <a:moveTo>
                  <a:pt x="0" y="124358"/>
                </a:moveTo>
                <a:lnTo>
                  <a:pt x="87782" y="0"/>
                </a:lnTo>
                <a:lnTo>
                  <a:pt x="87782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945843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2077517" y="4374490"/>
            <a:ext cx="87782" cy="768096"/>
          </a:xfrm>
          <a:custGeom>
            <a:avLst/>
            <a:gdLst/>
            <a:ahLst/>
            <a:cxnLst/>
            <a:rect l="l" t="t" r="r" b="b"/>
            <a:pathLst>
              <a:path w="87782" h="768096">
                <a:moveTo>
                  <a:pt x="0" y="124358"/>
                </a:moveTo>
                <a:lnTo>
                  <a:pt x="87782" y="0"/>
                </a:lnTo>
                <a:lnTo>
                  <a:pt x="87782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2560320" y="433059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2699309" y="4330598"/>
            <a:ext cx="87782" cy="746151"/>
          </a:xfrm>
          <a:custGeom>
            <a:avLst/>
            <a:gdLst/>
            <a:ahLst/>
            <a:cxnLst/>
            <a:rect l="l" t="t" r="r" b="b"/>
            <a:pathLst>
              <a:path w="87782" h="746151">
                <a:moveTo>
                  <a:pt x="0" y="124359"/>
                </a:moveTo>
                <a:lnTo>
                  <a:pt x="87782" y="0"/>
                </a:lnTo>
                <a:lnTo>
                  <a:pt x="87782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2684678" y="4330598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2823667" y="4330598"/>
            <a:ext cx="87783" cy="746151"/>
          </a:xfrm>
          <a:custGeom>
            <a:avLst/>
            <a:gdLst/>
            <a:ahLst/>
            <a:cxnLst/>
            <a:rect l="l" t="t" r="r" b="b"/>
            <a:pathLst>
              <a:path w="87783" h="746151">
                <a:moveTo>
                  <a:pt x="0" y="124359"/>
                </a:moveTo>
                <a:lnTo>
                  <a:pt x="87783" y="0"/>
                </a:lnTo>
                <a:lnTo>
                  <a:pt x="87783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2809037" y="433059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2948026" y="4330598"/>
            <a:ext cx="87782" cy="746151"/>
          </a:xfrm>
          <a:custGeom>
            <a:avLst/>
            <a:gdLst/>
            <a:ahLst/>
            <a:cxnLst/>
            <a:rect l="l" t="t" r="r" b="b"/>
            <a:pathLst>
              <a:path w="87782" h="746151">
                <a:moveTo>
                  <a:pt x="0" y="124359"/>
                </a:moveTo>
                <a:lnTo>
                  <a:pt x="87782" y="0"/>
                </a:lnTo>
                <a:lnTo>
                  <a:pt x="87782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3650285" y="3160166"/>
            <a:ext cx="314553" cy="124359"/>
          </a:xfrm>
          <a:custGeom>
            <a:avLst/>
            <a:gdLst/>
            <a:ahLst/>
            <a:cxnLst/>
            <a:rect l="l" t="t" r="r" b="b"/>
            <a:pathLst>
              <a:path w="314553" h="124359">
                <a:moveTo>
                  <a:pt x="0" y="124359"/>
                </a:moveTo>
                <a:lnTo>
                  <a:pt x="87782" y="0"/>
                </a:lnTo>
                <a:lnTo>
                  <a:pt x="314553" y="0"/>
                </a:lnTo>
                <a:lnTo>
                  <a:pt x="226771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3877056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3825850" y="3160166"/>
            <a:ext cx="314553" cy="124359"/>
          </a:xfrm>
          <a:custGeom>
            <a:avLst/>
            <a:gdLst/>
            <a:ahLst/>
            <a:cxnLst/>
            <a:rect l="l" t="t" r="r" b="b"/>
            <a:pathLst>
              <a:path w="314553" h="124359">
                <a:moveTo>
                  <a:pt x="0" y="124359"/>
                </a:moveTo>
                <a:lnTo>
                  <a:pt x="87782" y="0"/>
                </a:lnTo>
                <a:lnTo>
                  <a:pt x="314553" y="0"/>
                </a:lnTo>
                <a:lnTo>
                  <a:pt x="226771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4052621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4001414" y="3160166"/>
            <a:ext cx="314554" cy="124359"/>
          </a:xfrm>
          <a:custGeom>
            <a:avLst/>
            <a:gdLst/>
            <a:ahLst/>
            <a:cxnLst/>
            <a:rect l="l" t="t" r="r" b="b"/>
            <a:pathLst>
              <a:path w="314554" h="124359">
                <a:moveTo>
                  <a:pt x="0" y="124359"/>
                </a:moveTo>
                <a:lnTo>
                  <a:pt x="87783" y="0"/>
                </a:lnTo>
                <a:lnTo>
                  <a:pt x="314554" y="0"/>
                </a:lnTo>
                <a:lnTo>
                  <a:pt x="226772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4228186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544921" y="3708806"/>
            <a:ext cx="362102" cy="185806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903366" y="3708806"/>
            <a:ext cx="362102" cy="18580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61811" y="3708806"/>
            <a:ext cx="362102" cy="185806"/>
          </a:xfrm>
          <a:prstGeom prst="rect">
            <a:avLst/>
          </a:prstGeom>
          <a:solidFill>
            <a:srgbClr val="C2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5544921" y="3891686"/>
            <a:ext cx="362102" cy="18580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5903366" y="3891686"/>
            <a:ext cx="362102" cy="185806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261811" y="3891686"/>
            <a:ext cx="362102" cy="18580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5544921" y="4074566"/>
            <a:ext cx="362102" cy="18580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5903366" y="4074566"/>
            <a:ext cx="362102" cy="18580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261811" y="4074566"/>
            <a:ext cx="362102" cy="18580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5544921" y="4257446"/>
            <a:ext cx="362102" cy="185806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5903366" y="4257446"/>
            <a:ext cx="362102" cy="185806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261811" y="4257446"/>
            <a:ext cx="362102" cy="18580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5544921" y="4440326"/>
            <a:ext cx="362102" cy="185806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5903366" y="4440326"/>
            <a:ext cx="362102" cy="185806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261811" y="4440326"/>
            <a:ext cx="362102" cy="185806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426464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660550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894636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2128723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2362809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3672230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3825849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3979468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4133088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4286707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470355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697126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923897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2538374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2662732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2787091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492300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719072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945843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2560320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84678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2809036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3650284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3825849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4001414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294424" y="90891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Signal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017910" y="339608"/>
            <a:ext cx="195827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Encoders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468172" y="632764"/>
            <a:ext cx="3028492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3073481" y="142097"/>
            <a:ext cx="195827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Feature Tokens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3189427" y="486460"/>
            <a:ext cx="1799539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3547872" y="683971"/>
            <a:ext cx="1082649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4939588" y="354238"/>
            <a:ext cx="2234793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Delay-Guided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732202" y="602955"/>
            <a:ext cx="264956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Cross-Attention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6692676" y="420075"/>
            <a:ext cx="264956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Temporal Pooling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-61447" y="1526682"/>
            <a:ext cx="591068" cy="2969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12" b="0" i="0">
                <a:solidFill>
                  <a:srgbClr val="171717"/>
                </a:solidFill>
                <a:latin typeface="Times New Roman"/>
              </a:rPr>
              <a:t>EEG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-40233" y="3118104"/>
            <a:ext cx="621792" cy="318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7" b="0" i="0">
                <a:solidFill>
                  <a:srgbClr val="171717"/>
                </a:solidFill>
                <a:latin typeface="Times New Roman"/>
              </a:rPr>
              <a:t>ΔHbO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-40233" y="4661611"/>
            <a:ext cx="621792" cy="318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7" b="0" i="0">
                <a:solidFill>
                  <a:srgbClr val="171717"/>
                </a:solidFill>
                <a:latin typeface="Times New Roman"/>
              </a:rPr>
              <a:t>ΔHbR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359505" y="2157069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EEG features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3302812" y="2391156"/>
            <a:ext cx="144109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3136392" y="3685946"/>
            <a:ext cx="54498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>Concat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3274283" y="4649541"/>
            <a:ext cx="1512783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fNIRS features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3313785" y="4905573"/>
            <a:ext cx="1389888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4727082" y="1230050"/>
            <a:ext cx="2557393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97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5347045" y="2080625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1" i="0">
                <a:solidFill>
                  <a:srgbClr val="171717"/>
                </a:solidFill>
                <a:latin typeface="Times New Roman"/>
              </a:rPr>
              <a:t>Delay-Aware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5347045" y="2329342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1" i="0">
                <a:solidFill>
                  <a:srgbClr val="171717"/>
                </a:solidFill>
                <a:latin typeface="Times New Roman"/>
              </a:rPr>
              <a:t>Attention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5016398" y="4622292"/>
            <a:ext cx="208117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Attention Matrix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5408858" y="4898257"/>
            <a:ext cx="1266992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Prior + Mask</a:t>
            </a:r>
          </a:p>
        </p:txBody>
      </p:sp>
      <p:cxnSp>
        <p:nvCxnSpPr>
          <p:cNvPr id="312" name="Connector 311"/>
          <p:cNvCxnSpPr/>
          <p:nvPr/>
        </p:nvCxnSpPr>
        <p:spPr>
          <a:xfrm>
            <a:off x="8732520" y="1545336"/>
            <a:ext cx="411480" cy="0"/>
          </a:xfrm>
          <a:prstGeom prst="line">
            <a:avLst/>
          </a:prstGeom>
          <a:ln w="17145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9966960" y="1545336"/>
            <a:ext cx="0" cy="804672"/>
          </a:xfrm>
          <a:prstGeom prst="line">
            <a:avLst/>
          </a:prstGeom>
          <a:ln w="17145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8732520" y="3977639"/>
            <a:ext cx="411480" cy="0"/>
          </a:xfrm>
          <a:prstGeom prst="line">
            <a:avLst/>
          </a:prstGeom>
          <a:ln w="17145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9966960" y="3401568"/>
            <a:ext cx="0" cy="283464"/>
          </a:xfrm>
          <a:prstGeom prst="line">
            <a:avLst/>
          </a:prstGeom>
          <a:ln w="17145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10789920" y="2880360"/>
            <a:ext cx="402336" cy="0"/>
          </a:xfrm>
          <a:prstGeom prst="line">
            <a:avLst/>
          </a:prstGeom>
          <a:ln w="17145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8732520" y="1545336"/>
            <a:ext cx="2286000" cy="0"/>
          </a:xfrm>
          <a:prstGeom prst="line">
            <a:avLst/>
          </a:prstGeom>
          <a:ln w="171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11018520" y="1545336"/>
            <a:ext cx="0" cy="1115568"/>
          </a:xfrm>
          <a:prstGeom prst="line">
            <a:avLst/>
          </a:prstGeom>
          <a:ln w="171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11018520" y="2660904"/>
            <a:ext cx="173736" cy="0"/>
          </a:xfrm>
          <a:prstGeom prst="line">
            <a:avLst/>
          </a:prstGeom>
          <a:ln w="17145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10789920" y="3977639"/>
            <a:ext cx="228600" cy="0"/>
          </a:xfrm>
          <a:prstGeom prst="line">
            <a:avLst/>
          </a:prstGeom>
          <a:ln w="171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11018520" y="3099816"/>
            <a:ext cx="0" cy="877823"/>
          </a:xfrm>
          <a:prstGeom prst="line">
            <a:avLst/>
          </a:prstGeom>
          <a:ln w="171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11018520" y="3099816"/>
            <a:ext cx="173736" cy="0"/>
          </a:xfrm>
          <a:prstGeom prst="line">
            <a:avLst/>
          </a:prstGeom>
          <a:ln w="17145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12637008" y="2880360"/>
            <a:ext cx="210312" cy="0"/>
          </a:xfrm>
          <a:prstGeom prst="line">
            <a:avLst/>
          </a:prstGeom>
          <a:ln w="17145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13981176" y="2880360"/>
            <a:ext cx="329184" cy="0"/>
          </a:xfrm>
          <a:prstGeom prst="line">
            <a:avLst/>
          </a:prstGeom>
          <a:ln w="17145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4032504" y="896112"/>
            <a:ext cx="0" cy="457200"/>
          </a:xfrm>
          <a:prstGeom prst="line">
            <a:avLst/>
          </a:prstGeom>
          <a:ln w="171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4032504" y="896112"/>
            <a:ext cx="4005071" cy="0"/>
          </a:xfrm>
          <a:prstGeom prst="line">
            <a:avLst/>
          </a:prstGeom>
          <a:ln w="171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8037575" y="896112"/>
            <a:ext cx="0" cy="338328"/>
          </a:xfrm>
          <a:prstGeom prst="line">
            <a:avLst/>
          </a:prstGeom>
          <a:ln w="17145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" name="Rounded Rectangle 327"/>
          <p:cNvSpPr/>
          <p:nvPr/>
        </p:nvSpPr>
        <p:spPr>
          <a:xfrm>
            <a:off x="7351775" y="1234440"/>
            <a:ext cx="1380744" cy="640080"/>
          </a:xfrm>
          <a:prstGeom prst="roundRect">
            <a:avLst>
              <a:gd name="adj" fmla="val 7000"/>
            </a:avLst>
          </a:prstGeom>
          <a:solidFill>
            <a:srgbClr val="F7F7F7"/>
          </a:solidFill>
          <a:ln w="1524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7388352" y="1307592"/>
            <a:ext cx="1307592" cy="48463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defRPr sz="1600" b="1">
                <a:solidFill>
                  <a:srgbClr val="171717"/>
                </a:solidFill>
                <a:latin typeface="Times New Roman"/>
              </a:defRPr>
            </a:pPr>
            <a:r>
              <a:t>Temporal</a:t>
            </a:r>
            <a:br/>
            <a:r>
              <a:t>pooling</a:t>
            </a:r>
          </a:p>
        </p:txBody>
      </p:sp>
      <p:sp>
        <p:nvSpPr>
          <p:cNvPr id="330" name="Rounded Rectangle 329"/>
          <p:cNvSpPr/>
          <p:nvPr/>
        </p:nvSpPr>
        <p:spPr>
          <a:xfrm>
            <a:off x="7351775" y="3648456"/>
            <a:ext cx="1380744" cy="658368"/>
          </a:xfrm>
          <a:prstGeom prst="roundRect">
            <a:avLst>
              <a:gd name="adj" fmla="val 7000"/>
            </a:avLst>
          </a:prstGeom>
          <a:solidFill>
            <a:srgbClr val="F7F7F7"/>
          </a:solidFill>
          <a:ln w="1524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7388352" y="3712463"/>
            <a:ext cx="1307592" cy="53035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</a:defRPr>
            </a:pPr>
            <a:r>
              <a:t>EEG + fNIRS</a:t>
            </a:r>
            <a:br/>
            <a:r>
              <a:t>features</a:t>
            </a:r>
          </a:p>
        </p:txBody>
      </p:sp>
      <p:sp>
        <p:nvSpPr>
          <p:cNvPr id="332" name="Rounded Rectangle 331"/>
          <p:cNvSpPr/>
          <p:nvPr/>
        </p:nvSpPr>
        <p:spPr>
          <a:xfrm>
            <a:off x="9144000" y="3648456"/>
            <a:ext cx="1645920" cy="658368"/>
          </a:xfrm>
          <a:prstGeom prst="roundRect">
            <a:avLst>
              <a:gd name="adj" fmla="val 7000"/>
            </a:avLst>
          </a:prstGeom>
          <a:solidFill>
            <a:srgbClr val="F7F7F7"/>
          </a:solidFill>
          <a:ln w="1524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9189720" y="3712463"/>
            <a:ext cx="1554480" cy="53035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</a:defRPr>
            </a:pPr>
            <a:r>
              <a:t>Shallow</a:t>
            </a:r>
            <a:br/>
            <a:r>
              <a:t>projection</a:t>
            </a:r>
          </a:p>
        </p:txBody>
      </p:sp>
      <p:sp>
        <p:nvSpPr>
          <p:cNvPr id="334" name="Rounded Rectangle 333"/>
          <p:cNvSpPr/>
          <p:nvPr/>
        </p:nvSpPr>
        <p:spPr>
          <a:xfrm>
            <a:off x="9144000" y="2350008"/>
            <a:ext cx="1645920" cy="1051560"/>
          </a:xfrm>
          <a:prstGeom prst="roundRect">
            <a:avLst>
              <a:gd name="adj" fmla="val 7000"/>
            </a:avLst>
          </a:prstGeom>
          <a:solidFill>
            <a:srgbClr val="EDEDED"/>
          </a:solidFill>
          <a:ln w="1524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9189720" y="2523744"/>
            <a:ext cx="1554480" cy="67665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defRPr sz="1600" b="1">
                <a:solidFill>
                  <a:srgbClr val="171717"/>
                </a:solidFill>
                <a:latin typeface="Times New Roman"/>
              </a:defRPr>
            </a:pPr>
            <a:r>
              <a:t>Entropy-guided</a:t>
            </a:r>
            <a:br/>
            <a:r>
              <a:t>gate</a:t>
            </a:r>
          </a:p>
        </p:txBody>
      </p:sp>
      <p:sp>
        <p:nvSpPr>
          <p:cNvPr id="336" name="Rounded Rectangle 335"/>
          <p:cNvSpPr/>
          <p:nvPr/>
        </p:nvSpPr>
        <p:spPr>
          <a:xfrm>
            <a:off x="11192256" y="2468880"/>
            <a:ext cx="1444752" cy="822960"/>
          </a:xfrm>
          <a:prstGeom prst="roundRect">
            <a:avLst>
              <a:gd name="adj" fmla="val 7000"/>
            </a:avLst>
          </a:prstGeom>
          <a:solidFill>
            <a:srgbClr val="EDEDED"/>
          </a:solidFill>
          <a:ln w="1524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11247120" y="2587752"/>
            <a:ext cx="1335024" cy="54864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</a:defRPr>
            </a:pPr>
            <a:r>
              <a:t>Feature-wise</a:t>
            </a:r>
            <a:br/>
            <a:r>
              <a:t>fusion</a:t>
            </a:r>
          </a:p>
        </p:txBody>
      </p:sp>
      <p:sp>
        <p:nvSpPr>
          <p:cNvPr id="338" name="Rounded Rectangle 337"/>
          <p:cNvSpPr/>
          <p:nvPr/>
        </p:nvSpPr>
        <p:spPr>
          <a:xfrm>
            <a:off x="12847320" y="2551176"/>
            <a:ext cx="1133856" cy="658368"/>
          </a:xfrm>
          <a:prstGeom prst="roundRect">
            <a:avLst>
              <a:gd name="adj" fmla="val 7000"/>
            </a:avLst>
          </a:prstGeom>
          <a:solidFill>
            <a:srgbClr val="F7F7F7"/>
          </a:solidFill>
          <a:ln w="1524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12874752" y="2688336"/>
            <a:ext cx="1078992" cy="3840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</a:defRPr>
            </a:pPr>
            <a:r>
              <a:t>Classifier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7424927" y="1975104"/>
            <a:ext cx="1225296" cy="24688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defRPr sz="1200" b="0">
                <a:solidFill>
                  <a:srgbClr val="171717"/>
                </a:solidFill>
                <a:latin typeface="Times New Roman"/>
              </a:defRPr>
            </a:pPr>
            <a:r>
              <a:t>Deep stream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7315200" y="4407408"/>
            <a:ext cx="1463040" cy="27432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defRPr sz="1200" b="0">
                <a:solidFill>
                  <a:srgbClr val="171717"/>
                </a:solidFill>
                <a:latin typeface="Times New Roman"/>
              </a:defRPr>
            </a:pPr>
            <a:r>
              <a:t>Spectral + optical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
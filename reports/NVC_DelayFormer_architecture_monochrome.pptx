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4800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137160"/>
            <a:ext cx="2651760" cy="25603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300" b="1">
                <a:solidFill>
                  <a:srgbClr val="272727"/>
                </a:solidFill>
                <a:latin typeface="Times New Roman"/>
              </a:defRPr>
            </a:pPr>
            <a:r>
              <a:t>Multimodal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37160"/>
            <a:ext cx="3200400" cy="25603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300" b="1">
                <a:solidFill>
                  <a:srgbClr val="272727"/>
                </a:solidFill>
                <a:latin typeface="Times New Roman"/>
              </a:defRPr>
            </a:pPr>
            <a:r>
              <a:t>Physiology-guided temporal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2057400" cy="25603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300" b="1">
                <a:solidFill>
                  <a:srgbClr val="272727"/>
                </a:solidFill>
                <a:latin typeface="Times New Roman"/>
              </a:defRPr>
            </a:pPr>
            <a:r>
              <a:t>Dual-stream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37160"/>
            <a:ext cx="2194560" cy="25603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300" b="1">
                <a:solidFill>
                  <a:srgbClr val="272727"/>
                </a:solidFill>
                <a:latin typeface="Times New Roman"/>
              </a:defRPr>
            </a:pPr>
            <a:r>
              <a:t>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" y="777240"/>
            <a:ext cx="804672" cy="384048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200" b="1">
                <a:solidFill>
                  <a:srgbClr val="272727"/>
                </a:solidFill>
                <a:latin typeface="Times New Roman"/>
              </a:defRPr>
            </a:pPr>
            <a:r>
              <a:t>EEG</a:t>
            </a:r>
            <a:br/>
            <a:r>
              <a:t>30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" y="768096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813816"/>
            <a:ext cx="932688" cy="34747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200" b="1">
                <a:solidFill>
                  <a:srgbClr val="272727"/>
                </a:solidFill>
                <a:latin typeface="Times New Roman"/>
              </a:defRPr>
            </a:pPr>
            <a:r>
              <a:t>EA / CrEA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987552"/>
            <a:ext cx="82296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731520"/>
            <a:ext cx="1188720" cy="512064"/>
          </a:xfrm>
          <a:prstGeom prst="roundRect">
            <a:avLst>
              <a:gd name="adj" fmla="val 5000"/>
            </a:avLst>
          </a:prstGeom>
          <a:solidFill>
            <a:srgbClr val="EEEEEE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8296" y="758952"/>
            <a:ext cx="1115568" cy="457200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200" b="1">
                <a:solidFill>
                  <a:srgbClr val="272727"/>
                </a:solidFill>
                <a:latin typeface="Times New Roman"/>
              </a:defRPr>
            </a:pPr>
            <a:r>
              <a:t>2D-EEGNet</a:t>
            </a:r>
            <a:br/>
            <a:r>
              <a:t>encoder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56816" y="987552"/>
            <a:ext cx="365760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" y="2075688"/>
            <a:ext cx="731520" cy="475488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200" b="1">
                <a:solidFill>
                  <a:srgbClr val="272727"/>
                </a:solidFill>
                <a:latin typeface="Times New Roman"/>
              </a:defRPr>
            </a:pPr>
            <a:r>
              <a:t>fNIRS</a:t>
            </a:r>
            <a:br/>
            <a:r>
              <a:t>72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048256"/>
            <a:ext cx="1188720" cy="512064"/>
          </a:xfrm>
          <a:prstGeom prst="roundRect">
            <a:avLst>
              <a:gd name="adj" fmla="val 5000"/>
            </a:avLst>
          </a:prstGeom>
          <a:solidFill>
            <a:srgbClr val="EEEEEE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68296" y="2075688"/>
            <a:ext cx="1115568" cy="457200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200" b="1">
                <a:solidFill>
                  <a:srgbClr val="272727"/>
                </a:solidFill>
                <a:latin typeface="Times New Roman"/>
              </a:defRPr>
            </a:pPr>
            <a:r>
              <a:t>Conv1D</a:t>
            </a:r>
            <a:br/>
            <a:r>
              <a:t>encoder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" y="2295144"/>
            <a:ext cx="1463040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9584" y="704088"/>
            <a:ext cx="667512" cy="25603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0">
                <a:solidFill>
                  <a:srgbClr val="272727"/>
                </a:solidFill>
                <a:latin typeface="Times New Roman"/>
              </a:defRPr>
            </a:pPr>
            <a:r>
              <a:t>Hₑ → K,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404872"/>
            <a:ext cx="667512" cy="246888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0">
                <a:solidFill>
                  <a:srgbClr val="272727"/>
                </a:solidFill>
                <a:latin typeface="Times New Roman"/>
              </a:defRPr>
            </a:pPr>
            <a:r>
              <a:t>Hₙ → 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1416" y="1261872"/>
            <a:ext cx="1792224" cy="1033271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316736"/>
            <a:ext cx="1682496" cy="320040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300" b="1">
                <a:solidFill>
                  <a:srgbClr val="272727"/>
                </a:solidFill>
                <a:latin typeface="Times New Roman"/>
              </a:defRPr>
            </a:pPr>
            <a:r>
              <a:t>Cross-attention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664208"/>
            <a:ext cx="1682496" cy="283464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20" b="0">
                <a:solidFill>
                  <a:srgbClr val="272727"/>
                </a:solidFill>
                <a:latin typeface="Times New Roman"/>
              </a:defRPr>
            </a:pPr>
            <a:r>
              <a:t>Softmax(QKᵀ/√d + P + 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1975104"/>
            <a:ext cx="1645920" cy="201168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050" b="0">
                <a:solidFill>
                  <a:srgbClr val="272727"/>
                </a:solidFill>
                <a:latin typeface="Times New Roman"/>
              </a:defRPr>
            </a:pPr>
            <a:r>
              <a:t>4 heads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20440" y="987552"/>
            <a:ext cx="603504" cy="0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23944" y="987552"/>
            <a:ext cx="0" cy="512064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23944" y="1499616"/>
            <a:ext cx="338328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20440" y="2048256"/>
            <a:ext cx="941832" cy="246888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98848" y="2569464"/>
            <a:ext cx="832104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2615184"/>
            <a:ext cx="758952" cy="34747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1">
                <a:solidFill>
                  <a:srgbClr val="272727"/>
                </a:solidFill>
                <a:latin typeface="Times New Roman"/>
              </a:defRPr>
            </a:pPr>
            <a:r>
              <a:t>Delay prior</a:t>
            </a:r>
            <a:br/>
            <a:r>
              <a:t>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4104" y="2569464"/>
            <a:ext cx="832104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615184"/>
            <a:ext cx="758952" cy="34747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1">
                <a:solidFill>
                  <a:srgbClr val="272727"/>
                </a:solidFill>
                <a:latin typeface="Times New Roman"/>
              </a:defRPr>
            </a:pPr>
            <a:r>
              <a:t>Timestamp</a:t>
            </a:r>
            <a:br/>
            <a:r>
              <a:t>mask M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910328" y="2304288"/>
            <a:ext cx="0" cy="256032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815584" y="2304288"/>
            <a:ext cx="0" cy="256032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89704" y="3099816"/>
            <a:ext cx="1783080" cy="228600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050" b="0">
                <a:solidFill>
                  <a:srgbClr val="272727"/>
                </a:solidFill>
                <a:latin typeface="Times New Roman"/>
              </a:defRPr>
            </a:pPr>
            <a:r>
              <a:t>τₕ = 3.5, 4.5, 5.5, 6.5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39128" y="1307592"/>
            <a:ext cx="1335024" cy="932688"/>
          </a:xfrm>
          <a:prstGeom prst="roundRect">
            <a:avLst>
              <a:gd name="adj" fmla="val 5000"/>
            </a:avLst>
          </a:prstGeom>
          <a:solidFill>
            <a:srgbClr val="EEEEEE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4" y="1371600"/>
            <a:ext cx="1261872" cy="365760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200" b="1">
                <a:solidFill>
                  <a:srgbClr val="272727"/>
                </a:solidFill>
                <a:latin typeface="Times New Roman"/>
              </a:defRPr>
            </a:pPr>
            <a:r>
              <a:t>Attentive</a:t>
            </a:r>
            <a:br/>
            <a:r>
              <a:t>temporal pooling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5704" y="1810512"/>
            <a:ext cx="1261872" cy="30175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050" b="0">
                <a:solidFill>
                  <a:srgbClr val="272727"/>
                </a:solidFill>
                <a:latin typeface="Times New Roman"/>
              </a:defRPr>
            </a:pPr>
            <a:r>
              <a:t>Deep projection</a:t>
            </a:r>
            <a:br/>
            <a:r>
              <a:t>128 → 64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263640" y="1773936"/>
            <a:ext cx="466344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886200" y="576072"/>
            <a:ext cx="0" cy="411480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86200" y="576072"/>
            <a:ext cx="3520440" cy="0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06640" y="576072"/>
            <a:ext cx="0" cy="722376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20640" y="594360"/>
            <a:ext cx="1591056" cy="201168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050" b="0">
                <a:solidFill>
                  <a:srgbClr val="272727"/>
                </a:solidFill>
                <a:latin typeface="Times New Roman"/>
              </a:defRPr>
            </a:pPr>
            <a:r>
              <a:t>EEG tokens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2295144"/>
            <a:ext cx="914400" cy="219456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1">
                <a:solidFill>
                  <a:srgbClr val="272727"/>
                </a:solidFill>
                <a:latin typeface="Times New Roman"/>
              </a:defRPr>
            </a:pPr>
            <a:r>
              <a:t>z_deep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0520" y="3675887"/>
            <a:ext cx="2112264" cy="676656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97096" y="3712463"/>
            <a:ext cx="2039112" cy="594360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1">
                <a:solidFill>
                  <a:srgbClr val="272727"/>
                </a:solidFill>
                <a:latin typeface="Times New Roman"/>
              </a:defRPr>
            </a:pPr>
            <a:r>
              <a:t>Direct features</a:t>
            </a:r>
            <a:br/>
            <a:r>
              <a:t>EEG θ / α / β power</a:t>
            </a:r>
            <a:br/>
            <a:r>
              <a:t>fNIRS mean and slope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121408" y="987552"/>
            <a:ext cx="0" cy="2487168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21408" y="3474720"/>
            <a:ext cx="2249424" cy="0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370832" y="3474720"/>
            <a:ext cx="0" cy="192024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636776" y="2295144"/>
            <a:ext cx="0" cy="1307592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636776" y="3602736"/>
            <a:ext cx="2450592" cy="0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087368" y="3602736"/>
            <a:ext cx="0" cy="402336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87368" y="4005072"/>
            <a:ext cx="64008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739128" y="3730752"/>
            <a:ext cx="1335024" cy="566928"/>
          </a:xfrm>
          <a:prstGeom prst="roundRect">
            <a:avLst>
              <a:gd name="adj" fmla="val 5000"/>
            </a:avLst>
          </a:prstGeom>
          <a:solidFill>
            <a:srgbClr val="EEEEEE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75704" y="3767328"/>
            <a:ext cx="1261872" cy="475488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1">
                <a:solidFill>
                  <a:srgbClr val="272727"/>
                </a:solidFill>
                <a:latin typeface="Times New Roman"/>
              </a:defRPr>
            </a:pPr>
            <a:r>
              <a:t>Shallow projection</a:t>
            </a:r>
            <a:br/>
            <a:r>
              <a:t>234 → 32 → 64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272784" y="4014215"/>
            <a:ext cx="457200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58584" y="4315968"/>
            <a:ext cx="914400" cy="21031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1">
                <a:solidFill>
                  <a:srgbClr val="272727"/>
                </a:solidFill>
                <a:latin typeface="Times New Roman"/>
              </a:defRPr>
            </a:pPr>
            <a:r>
              <a:t>z_shallow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31936" y="2057400"/>
            <a:ext cx="1554480" cy="950976"/>
          </a:xfrm>
          <a:prstGeom prst="roundRect">
            <a:avLst>
              <a:gd name="adj" fmla="val 5000"/>
            </a:avLst>
          </a:prstGeom>
          <a:solidFill>
            <a:srgbClr val="DEDEDE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77656" y="2121408"/>
            <a:ext cx="1463040" cy="310896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200" b="1">
                <a:solidFill>
                  <a:srgbClr val="272727"/>
                </a:solidFill>
                <a:latin typeface="Times New Roman"/>
              </a:defRPr>
            </a:pPr>
            <a:r>
              <a:t>Entropy-guided gate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2450592"/>
            <a:ext cx="1444752" cy="484632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100" b="0">
                <a:solidFill>
                  <a:srgbClr val="272727"/>
                </a:solidFill>
                <a:latin typeface="Times New Roman"/>
              </a:defRPr>
            </a:pPr>
            <a:r>
              <a:t>feature-wise sigmoid</a:t>
            </a:r>
            <a:br/>
            <a:r>
              <a:t>deep + shallow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074152" y="1773936"/>
            <a:ext cx="292608" cy="0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366760" y="1773936"/>
            <a:ext cx="0" cy="530352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366760" y="2304288"/>
            <a:ext cx="256032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074152" y="4014215"/>
            <a:ext cx="292608" cy="0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366760" y="2788920"/>
            <a:ext cx="0" cy="1225295"/>
          </a:xfrm>
          <a:prstGeom prst="line">
            <a:avLst/>
          </a:prstGeom>
          <a:ln w="12700">
            <a:solidFill>
              <a:srgbClr val="35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366760" y="2788920"/>
            <a:ext cx="256032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881360" y="2221992"/>
            <a:ext cx="1234440" cy="630936"/>
          </a:xfrm>
          <a:prstGeom prst="roundRect">
            <a:avLst>
              <a:gd name="adj" fmla="val 5000"/>
            </a:avLst>
          </a:prstGeom>
          <a:solidFill>
            <a:srgbClr val="EEEEEE"/>
          </a:solidFill>
          <a:ln w="11430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17936" y="2258568"/>
            <a:ext cx="1161288" cy="557784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200" b="1">
                <a:solidFill>
                  <a:srgbClr val="272727"/>
                </a:solidFill>
                <a:latin typeface="Times New Roman"/>
              </a:defRPr>
            </a:pPr>
            <a:r>
              <a:t>Linear classifier</a:t>
            </a:r>
            <a:br/>
            <a:r>
              <a:t>2 classes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186416" y="2532888"/>
            <a:ext cx="685800" cy="0"/>
          </a:xfrm>
          <a:prstGeom prst="line">
            <a:avLst/>
          </a:prstGeom>
          <a:ln w="127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05840" y="1335024"/>
            <a:ext cx="978408" cy="228600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980" b="0">
                <a:solidFill>
                  <a:srgbClr val="272727"/>
                </a:solidFill>
                <a:latin typeface="Times New Roman"/>
              </a:defRPr>
            </a:pPr>
            <a:r>
              <a:t>trial-wise or offline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15016" y="2852928"/>
            <a:ext cx="1883664" cy="329184"/>
          </a:xfrm>
          <a:prstGeom prst="rect">
            <a:avLst/>
          </a:prstGeom>
          <a:noFill/>
        </p:spPr>
        <p:txBody>
          <a:bodyPr wrap="square" lIns="6350" rIns="6350" tIns="0" bIns="0" anchor="ctr">
            <a:spAutoFit/>
          </a:bodyPr>
          <a:lstStyle/>
          <a:p>
            <a:pPr algn="ctr">
              <a:defRPr sz="1050" b="0">
                <a:solidFill>
                  <a:srgbClr val="272727"/>
                </a:solidFill>
                <a:latin typeface="Times New Roman"/>
              </a:defRPr>
            </a:pPr>
            <a:r>
              <a:t>joint logits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